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Ezine RES + batarya: edinimi şimdilik rafa kaldırmayı ve tetikleyicileri izlemeyi öneriyoruz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2514E"/>
                </a:solidFill>
                <a:latin typeface="Arial"/>
              </a:rPr>
              <a:t>Hibrit güneş–rüzgâr–batarya fizibilitesi · Çanakkale-Ezine · 50 MW şebeke bağlantısı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52514E"/>
                </a:solidFill>
                <a:latin typeface="Arial"/>
              </a:rPr>
              <a:t>Yatırım komitesi sunumu · Ekim 2026 · Ahmet Hilmi Görgülü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931920"/>
            <a:ext cx="3474720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64008" cy="14630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09651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Baz vaka beklenen NPV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−1,7 M$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79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kâr olasılığı %42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931920"/>
            <a:ext cx="3474720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3931920"/>
            <a:ext cx="64008" cy="1463040"/>
          </a:xfrm>
          <a:prstGeom prst="rect">
            <a:avLst/>
          </a:prstGeom>
          <a:solidFill>
            <a:srgbClr val="8A89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409651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Talep edilen karar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3891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Rafa kaldır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983479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durum tespiti bütçesi ve teklif yok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3931920"/>
            <a:ext cx="3474720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3931920"/>
            <a:ext cx="64008" cy="14630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09651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Yeniden değerlendirme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3891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5 tetikleyici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983479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YEKDEM endeksleme, fiyat, CAPEX, SFK, kesinti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Değer marjinal olarak negatif (−1,7 M$): edinimi rafa kaldır, gözlenebilir tetikleyicileri izle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Nihai baz vaka: inşaata hazır proje, COD Kasım 2029; RES 58,8 MW + batarya 30 MW / 60 MWh; YEKDEM yıllık opsiyonu + tüccar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 (Pyomo + HiGHS, Monte Carlo 10.000 simülasyon). Reel 2026 USD, %7 reel WACC.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2625013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64008" cy="14630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76272"/>
            <a:ext cx="22592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Beklenen NPV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22592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−1,7 M$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592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endeksli YEKDEM'de +0,4 M$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6533" y="2011680"/>
            <a:ext cx="2625013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6533" y="2011680"/>
            <a:ext cx="64008" cy="14630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5133" y="2176272"/>
            <a:ext cx="22592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Kâr olasılığı P(NPV&gt;0)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5133" y="2468880"/>
            <a:ext cx="22592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%42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5133" y="3063240"/>
            <a:ext cx="22592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saf tüccarda %42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0147" y="2011680"/>
            <a:ext cx="2625013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2011680"/>
            <a:ext cx="64008" cy="14630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8747" y="2176272"/>
            <a:ext cx="22592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En kötü %5 ortalaması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747" y="2468880"/>
            <a:ext cx="22592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−28,0 M$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747" y="3063240"/>
            <a:ext cx="22592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CVaR %5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3761" y="2011680"/>
            <a:ext cx="2625013" cy="14630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3761" y="2011680"/>
            <a:ext cx="64008" cy="14630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2361" y="2176272"/>
            <a:ext cx="22592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Başabaş beklenen fiyat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2361" y="2468880"/>
            <a:ext cx="22592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B0B0B"/>
                </a:solidFill>
                <a:latin typeface="Arial"/>
              </a:rPr>
              <a:t>≈ 59 $/MWh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2361" y="3063240"/>
            <a:ext cx="22592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2514E"/>
                </a:solidFill>
                <a:latin typeface="Arial"/>
              </a:rPr>
              <a:t>baz varsayım 58 $/MWh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11185855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B0B0B"/>
                </a:solidFill>
                <a:latin typeface="Arial"/>
              </a:rPr>
              <a:t>GES elendi. </a:t>
            </a:r>
            <a:r>
              <a:rPr sz="1500" b="0">
                <a:solidFill>
                  <a:srgbClr val="0B0B0B"/>
                </a:solidFill>
                <a:latin typeface="Arial"/>
              </a:rPr>
              <a:t>Güneş kendi öğle fiyatını düşürüyor; hiçbir optimal tasarıma girmedi.</a:t>
            </a:r>
          </a:p>
          <a:p>
            <a:pPr algn="l">
              <a:spcAft>
                <a:spcPts val="675"/>
              </a:spcAft>
            </a:pPr>
            <a:r>
              <a:rPr sz="1500" b="1">
                <a:solidFill>
                  <a:srgbClr val="0B0B0B"/>
                </a:solidFill>
                <a:latin typeface="Arial"/>
              </a:rPr>
              <a:t>Batarya SFK geliri için. </a:t>
            </a:r>
            <a:r>
              <a:rPr sz="1500" b="0">
                <a:solidFill>
                  <a:srgbClr val="0B0B0B"/>
                </a:solidFill>
                <a:latin typeface="Arial"/>
              </a:rPr>
              <a:t>30 MW, ikili SFK katılım eşiği; piyasa doyarsa kaybı küçük, yavaş doyumda kazancı büyük.</a:t>
            </a:r>
          </a:p>
          <a:p>
            <a:pPr algn="l">
              <a:spcAft>
                <a:spcPts val="675"/>
              </a:spcAft>
            </a:pPr>
            <a:r>
              <a:rPr sz="1500" b="1">
                <a:solidFill>
                  <a:srgbClr val="0B0B0B"/>
                </a:solidFill>
                <a:latin typeface="Arial"/>
              </a:rPr>
              <a:t>YEKDEM bir taban. </a:t>
            </a:r>
            <a:r>
              <a:rPr sz="1500" b="0">
                <a:solidFill>
                  <a:srgbClr val="0B0B0B"/>
                </a:solidFill>
                <a:latin typeface="Arial"/>
              </a:rPr>
              <a:t>Her yıl seçilebilen opsiyon olarak değerli; 10 yıl kilitlemek E[NPV]'yi −12,2 M$'a düşürüyor.</a:t>
            </a:r>
          </a:p>
          <a:p>
            <a:pPr algn="l">
              <a:spcAft>
                <a:spcPts val="675"/>
              </a:spcAft>
            </a:pPr>
            <a:r>
              <a:rPr sz="1500" b="1">
                <a:solidFill>
                  <a:srgbClr val="0B0B0B"/>
                </a:solidFill>
                <a:latin typeface="Arial"/>
              </a:rPr>
              <a:t>Önceki +1,5 M$ bir tutarsızlıktı. </a:t>
            </a:r>
            <a:r>
              <a:rPr sz="1500" b="0">
                <a:solidFill>
                  <a:srgbClr val="0B0B0B"/>
                </a:solidFill>
                <a:latin typeface="Arial"/>
              </a:rPr>
              <a:t>Monte Carlo'da 58 fiyatın medyanıydı; ortalama 61,8'e çıkıyordu. Düzeltilince −1,7 M$.</a:t>
            </a:r>
          </a:p>
          <a:p>
            <a:pPr algn="l">
              <a:spcAft>
                <a:spcPts val="675"/>
              </a:spcAft>
            </a:pPr>
            <a:r>
              <a:rPr sz="1500" b="1">
                <a:solidFill>
                  <a:srgbClr val="0B0B0B"/>
                </a:solidFill>
                <a:latin typeface="Arial"/>
              </a:rPr>
              <a:t>Durum tespitinin bilgi değeri sıfır. </a:t>
            </a:r>
            <a:r>
              <a:rPr sz="1500" b="0">
                <a:solidFill>
                  <a:srgbClr val="0B0B0B"/>
                </a:solidFill>
                <a:latin typeface="Arial"/>
              </a:rPr>
              <a:t>Olumlu sonuçlar bile E[NPV]'yi pozitife çevirmiyor; tek istisna YEKDEM endekslemesi.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50 MW bağlantıya ne kurulmalı sorusunu saatlik optimizasyon ve 10.000 senaryolu risk modeliyle yanıtladık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Soru: güneş, rüzgâr ve batarya kapasitelerinin hangi bileşimi şebeke kısıtı altında proje değerini en yüksek yapar ve bu yatırım belirsizlik altında yapılmalı mı?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1981139" cy="201168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64008" cy="2011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33472"/>
            <a:ext cx="1615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6153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Üretim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16153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PVGIS, ERA5 · 10 hava yılı</a:t>
            </a:r>
          </a:p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EPİAŞ santral verisiyle kalibrasyon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48067" y="3337560"/>
            <a:ext cx="192024" cy="274320"/>
          </a:xfrm>
          <a:prstGeom prst="rightArrow">
            <a:avLst/>
          </a:prstGeom>
          <a:solidFill>
            <a:srgbClr val="8A89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04099" y="2468880"/>
            <a:ext cx="1981139" cy="201168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4099" y="2468880"/>
            <a:ext cx="64008" cy="2011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2699" y="2633472"/>
            <a:ext cx="1615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2699" y="2926080"/>
            <a:ext cx="16153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Piyasa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699" y="3291840"/>
            <a:ext cx="16153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EPİAŞ PTF 2014–2026</a:t>
            </a:r>
          </a:p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yakalama oranı, kanibalizasyon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49246" y="3337560"/>
            <a:ext cx="192024" cy="274320"/>
          </a:xfrm>
          <a:prstGeom prst="rightArrow">
            <a:avLst/>
          </a:prstGeom>
          <a:solidFill>
            <a:srgbClr val="8A89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5278" y="2468880"/>
            <a:ext cx="1981139" cy="201168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05278" y="2468880"/>
            <a:ext cx="64008" cy="20116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3878" y="2633472"/>
            <a:ext cx="1615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78" y="2926080"/>
            <a:ext cx="16153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Optimizasyon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3878" y="3291840"/>
            <a:ext cx="16153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Pyomo + HiGHS MILP</a:t>
            </a:r>
          </a:p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8760 saat · kapasite + dispatch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50425" y="3337560"/>
            <a:ext cx="192024" cy="274320"/>
          </a:xfrm>
          <a:prstGeom prst="rightArrow">
            <a:avLst/>
          </a:prstGeom>
          <a:solidFill>
            <a:srgbClr val="8A89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457" y="2468880"/>
            <a:ext cx="1981139" cy="201168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06457" y="2468880"/>
            <a:ext cx="64008" cy="20116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057" y="2633472"/>
            <a:ext cx="1615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057" y="2926080"/>
            <a:ext cx="16153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Finans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057" y="3291840"/>
            <a:ext cx="16153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NPV, IRR, DSCR, LCOE</a:t>
            </a:r>
          </a:p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Excel modeli ile 48/48 mutabık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51604" y="3337560"/>
            <a:ext cx="192024" cy="274320"/>
          </a:xfrm>
          <a:prstGeom prst="rightArrow">
            <a:avLst/>
          </a:prstGeom>
          <a:solidFill>
            <a:srgbClr val="8A89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07636" y="2468880"/>
            <a:ext cx="1981139" cy="201168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07636" y="2468880"/>
            <a:ext cx="64008" cy="20116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6236" y="2633472"/>
            <a:ext cx="16153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6236" y="2926080"/>
            <a:ext cx="16153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B0B0B"/>
                </a:solidFill>
                <a:latin typeface="Arial"/>
              </a:rPr>
              <a:t>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6236" y="3291840"/>
            <a:ext cx="16153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Monte Carlo 10.000 · SFK doyumu</a:t>
            </a:r>
          </a:p>
          <a:p>
            <a:pPr algn="l">
              <a:spcAft>
                <a:spcPts val="495"/>
              </a:spcAft>
            </a:pPr>
            <a:r>
              <a:rPr sz="1100" b="0">
                <a:solidFill>
                  <a:srgbClr val="52514E"/>
                </a:solidFill>
                <a:latin typeface="Arial"/>
              </a:rPr>
              <a:t>takvim (CPM), kesinti, YEKDEM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937760"/>
            <a:ext cx="111858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Tüm varsayımlar kaynaklarıyla config.yaml'da; her optimizasyon modelinin matematiksel formülasyonu docs/ altında.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Karar ölçütü: beklenen NPV, kâr olasılığı ve kuyruk riski (CVaR) birlikte; değer pozitif ama inceyse kademeli karar.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Ezine dört aday saha arasında en güçlü rüzgâra sahip; model EPİAŞ santral verisiyle kalibre edildi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Sol: aday sahaların kapasite faktörü. Sağ: komşu RES'in gerçek üretimi ile modelin yıllık karşılaştırması (ay × saat hız katsayısı).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PVGIS-SARAH3, ERA5, EPİAŞ Şeffaflık Platformu; kendi modelim (pvlib, windpowerlib).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kapasite_faktorle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93492"/>
            <a:ext cx="5120640" cy="2688335"/>
          </a:xfrm>
          <a:prstGeom prst="rect">
            <a:avLst/>
          </a:prstGeom>
        </p:spPr>
      </p:pic>
      <p:pic>
        <p:nvPicPr>
          <p:cNvPr id="8" name="Picture 7" descr="kalibrasyon_yil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2710003"/>
            <a:ext cx="5790895" cy="28553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Güneş kendi fiyatını düşürüyor: yakalanma oranı 2016'da %120, 2026'da %70; rüzgâr ortalamada kalıyor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Yakalanma oranı = üretim ağırlıklı fiyat / ortalama fiyat. Öğle saatlerinde fiyat çöküyor (ördek eğrisi), gece ve akşam rüzgârı değerli.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EPİAŞ PTF; Ezine üretim profilleri kendi modelim.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5</a:t>
            </a:r>
          </a:p>
        </p:txBody>
      </p:sp>
      <p:pic>
        <p:nvPicPr>
          <p:cNvPr id="7" name="Picture 6" descr="yakalanma_orani_tre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31864"/>
            <a:ext cx="11185855" cy="42115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GES hiçbir optimal tasarıma girmedi: güneş eklemek her senaryoda NPV'yi düşürüyor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RES 58,8 MW sabit, 50 MW bağlantı. Hücre: en iyi tasarıma göre NPV farkı. Güneş, rüzgârın zaten doldurduğu bağlantıyla da çakışıyor.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 (Pyomo + HiGHS, Monte Carlo 10.000 simülasyon). Reel 2026 USD, %7 reel WACC.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b4_ges_bess_npv_izga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058" y="1920240"/>
            <a:ext cx="7631578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Bataryanın değeri SFK'dan geliyor; piyasa doyarsa avantaj kayboluyor ama kayıp küçük kalıyor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28–33 GW'lık depolama boru hattı ~1 GW'lık SFK ihtiyacını doyurabilir. Seçilen tasarım (F2 ailesi) yavaş doyumda kazanıyor, hızlı doyumda az kaybediyor.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modelim; doyum kalibrasyonu İngiltere DC ve Almanya FCR deneyimi; Türkiye depolama: EPDK, ETKB.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7</a:t>
            </a:r>
          </a:p>
        </p:txBody>
      </p:sp>
      <p:pic>
        <p:nvPicPr>
          <p:cNvPr id="7" name="Picture 6" descr="s_senaryo_n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564" y="1920240"/>
            <a:ext cx="9580566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YEKDEM'i her yıl seçilebilen bir taban olarak kullanmak en iyi yapı, ama nominal koridorda değer yine negatif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YEK Yönetmeliği md. 4/2, 5/1: katılım her yıl 30 Kasım'a kadar ayrı karar. Opsiyon, fiyat düştüğü yıllarda koridora sığınma hakkı veriyor.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 (Pyomo + HiGHS, Monte Carlo 10.000 simülasyon). Reel 2026 USD, %7 reel WACC.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gelir_yapil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56527"/>
            <a:ext cx="11185855" cy="35622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İnşaata hazır proje Kasım 2029'da devrede; geliştirmeden başlamak COD'u 2032'ye itip YEKDEM hakkını kaybettiriyor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CPM + Monte Carlo (üçgen süreler). Kritik yol: devir → finansman → türbin tedariki (12–30 ay) → montaj → devreye alma.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modelim; süreler ÇED özetleri, EPDK mevzuatı ve sektör kaynakları (docs/07).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cod_dagili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71" y="1920240"/>
            <a:ext cx="10844952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En büyük riskler fiyat seviyesi, SFK doyumu ve takvim; azaltımlar hepsini kırmızı bölgeden çıkarıyor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20 maddelik risk kaydı (outputs/07/risk_kaydi.xlsx): olasılık × etki, azaltım öncesi ve sonrası.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değerlendirmem (puanlar uzman yargısı); sayısal etkiler model çıktılarından.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10</a:t>
            </a:r>
          </a:p>
        </p:txBody>
      </p:sp>
      <p:pic>
        <p:nvPicPr>
          <p:cNvPr id="7" name="Picture 6" descr="risk_isi_harit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95" y="1920240"/>
            <a:ext cx="1065070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Karar beş kez değişti: iyimser SFK, kötümser sabit YEKDEM ve iyimser fiyat ortalaması varsayımları düzeltildi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Her nokta o aşamadaki önerinin beklenen NPV'si. Tutarlılık 2: YEKDEM yıllık opsiyonu, ortak batarya sürücüsü, inşaata hazır takvim. Nihai: 58 $/MWh medyan değil beklenen değer.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 (Pyomo + HiGHS, Monte Carlo 10.000 simülasyon). Reel 2026 USD, %7 reel WACC.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karar_yolculug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669" y="1920240"/>
            <a:ext cx="9214356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Talep: edinimi rafa kaldır; değeri pozitif gösteren fark fiyat ortalamasındaki bir ayar hatasıydı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2514E"/>
                </a:solidFill>
                <a:latin typeface="Arial"/>
              </a:rPr>
              <a:t>Deterministik baz (−2,4 M$) ile Monte Carlo arasındaki fark bileşenlere ayrıldı. Çubuk: düzeltme sonrası; nokta: öncesi (58 = medyan).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Kaynak: kendi modelim (Pyomo + HiGHS, Monte Carlo 10.000 simülasyon). Reel 2026 USD, %7 reel WACC.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12</a:t>
            </a:r>
          </a:p>
        </p:txBody>
      </p:sp>
      <p:pic>
        <p:nvPicPr>
          <p:cNvPr id="7" name="Picture 6" descr="kop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36057"/>
            <a:ext cx="6766560" cy="36489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35240" y="2057400"/>
            <a:ext cx="4053535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B0B0B"/>
                </a:solidFill>
                <a:latin typeface="Arial"/>
              </a:rPr>
              <a:t>Durum tespiti bütçesi ve teklif yok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TEİAŞ, teşvik ve ornitoloji kalemleri olumlu sonuçlansa bile E[NPV] &lt; 0: bilgi değerleri sıfır.</a:t>
            </a:r>
          </a:p>
          <a:p>
            <a:pPr algn="l">
              <a:spcAft>
                <a:spcPts val="585"/>
              </a:spcAft>
            </a:pPr>
            <a:r>
              <a:rPr sz="1300" b="1">
                <a:solidFill>
                  <a:srgbClr val="0B0B0B"/>
                </a:solidFill>
                <a:latin typeface="Arial"/>
              </a:rPr>
              <a:t>Yeniden değerlendirme tetikleyicileri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1. YEKDEM koridoru endeksli teyit edilir (E[NPV] +0,4 M$)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2. Uzun vadeli fiyat beklentisi ≳ 60 $/MWh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3. Türbin + EPC maliyeti ≳ %2 düşer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4. 2027'de depolama &lt; ~1 GW, SFK fiyatı korunur</a:t>
            </a:r>
          </a:p>
          <a:p>
            <a:pPr algn="l">
              <a:spcAft>
                <a:spcPts val="585"/>
              </a:spcAft>
            </a:pPr>
            <a:r>
              <a:rPr sz="1300" b="0">
                <a:solidFill>
                  <a:srgbClr val="0B0B0B"/>
                </a:solidFill>
                <a:latin typeface="Arial"/>
              </a:rPr>
              <a:t>5. RES'lere sistem kesintisi 2027'de &lt; %5</a:t>
            </a:r>
          </a:p>
          <a:p>
            <a:pPr algn="l">
              <a:spcAft>
                <a:spcPts val="585"/>
              </a:spcAft>
            </a:pPr>
            <a:r>
              <a:rPr sz="1300" b="1">
                <a:solidFill>
                  <a:srgbClr val="0B0B0B"/>
                </a:solidFill>
                <a:latin typeface="Arial"/>
              </a:rPr>
              <a:t>Pencere: </a:t>
            </a:r>
            <a:r>
              <a:rPr sz="1300" b="0">
                <a:solidFill>
                  <a:srgbClr val="0B0B0B"/>
                </a:solidFill>
                <a:latin typeface="Arial"/>
              </a:rPr>
              <a:t>tetikleyici 2027 ortasından sonra gelirse YEKDEM'e erişim riski artar.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185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80"/>
              </a:spcAft>
            </a:pPr>
            <a:r>
              <a:rPr sz="2400" b="1">
                <a:solidFill>
                  <a:srgbClr val="0B0B0B"/>
                </a:solidFill>
                <a:latin typeface="Arial"/>
              </a:rPr>
              <a:t>Ek: sonuçlar kaynaklı varsayımlara ve Excel ile birebir mutabık bir finansal modele dayanıyor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Tüm değerler config.yaml'da kaynak ve notlarıyla; formülasyonlar docs/00–07; Excel: outputs/08/Ezine_Hibrit_Finansal_Model.xlsx.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8A8984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0200"/>
          <a:ext cx="111858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08415"/>
              </a:tblGrid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Para birimi, iskonto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Reel 2026 USD; %7 reel WACC (Damodaran ülke riski primiyle aşağıdan yukarı)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RES 1,15 M$/MW; batarya 110 bin $/MWh + 90 bin $/MW; şebeke bağlantısı ayrı (toplam 82,9 M$)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Fiyat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Baz 58 $/MWh reel; AR(1) fiyat yolları; 2 gün içi şekil yılı × 10 hava yılı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Borç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Nominal %8, DSCR'a göre boyutlama, azami %75 borç oranı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Vergi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%25 kurumlar vergisi, 10 yıl doğrusal amortisman, 5 yıl zarar mahsubu; teşvik belgesiyle KDV istisnası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Optimizasyon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Pyomo + HiGHS: tamsayı türbin sayısı, ikili yatırım kararı, saatlik dispatch; 24 temsilî gün / tam yıl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10.000 simülasyon, ortak rastgele sayılar (tohum 42): fiyat, hava, CAPEX, SFK doyumu, kesinti, takvim</a:t>
                      </a:r>
                    </a:p>
                  </a:txBody>
                  <a:tcPr>
                    <a:solidFill>
                      <a:srgbClr val="F5F4F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0B0B"/>
                          </a:solidFill>
                          <a:latin typeface="Arial"/>
                        </a:rPr>
                        <a:t>Doğrulama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0B0B"/>
                          </a:solidFill>
                          <a:latin typeface="Arial"/>
                        </a:rPr>
                        <a:t>Excel modeli 48 senaryoda Python ile birebir; 0 formül hatası; 18 birim testi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