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Ezine RES + batarya: edinimi şimdilik rafa kaldırmayı ve tetikleyicileri izlemeyi öneriyoruz</a:t>
            </a:r>
          </a:p>
        </p:txBody>
      </p:sp>
      <p:sp>
        <p:nvSpPr>
          <p:cNvPr id="4" name="TextBox 3"/>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1</a:t>
            </a:r>
          </a:p>
        </p:txBody>
      </p:sp>
      <p:sp>
        <p:nvSpPr>
          <p:cNvPr id="5" name="TextBox 4"/>
          <p:cNvSpPr txBox="1"/>
          <p:nvPr/>
        </p:nvSpPr>
        <p:spPr>
          <a:xfrm>
            <a:off x="502920" y="2103120"/>
            <a:ext cx="10058400" cy="457200"/>
          </a:xfrm>
          <a:prstGeom prst="rect">
            <a:avLst/>
          </a:prstGeom>
          <a:noFill/>
        </p:spPr>
        <p:txBody>
          <a:bodyPr wrap="square" anchor="t" lIns="0" rIns="0" tIns="0" bIns="0">
            <a:spAutoFit/>
          </a:bodyPr>
          <a:lstStyle/>
          <a:p>
            <a:pPr algn="l">
              <a:spcAft>
                <a:spcPts val="720"/>
              </a:spcAft>
            </a:pPr>
            <a:r>
              <a:rPr sz="1600" b="0">
                <a:solidFill>
                  <a:srgbClr val="52514E"/>
                </a:solidFill>
                <a:latin typeface="Arial"/>
              </a:rPr>
              <a:t>Hibrit güneş–rüzgâr–batarya fizibilitesi · Çanakkale-Ezine · 50 MW şebeke bağlantısı</a:t>
            </a:r>
          </a:p>
        </p:txBody>
      </p:sp>
      <p:sp>
        <p:nvSpPr>
          <p:cNvPr id="6" name="TextBox 5"/>
          <p:cNvSpPr txBox="1"/>
          <p:nvPr/>
        </p:nvSpPr>
        <p:spPr>
          <a:xfrm>
            <a:off x="502920" y="2606040"/>
            <a:ext cx="10058400" cy="457200"/>
          </a:xfrm>
          <a:prstGeom prst="rect">
            <a:avLst/>
          </a:prstGeom>
          <a:noFill/>
        </p:spPr>
        <p:txBody>
          <a:bodyPr wrap="square" anchor="t" lIns="0" rIns="0" tIns="0" bIns="0">
            <a:spAutoFit/>
          </a:bodyPr>
          <a:lstStyle/>
          <a:p>
            <a:pPr algn="l">
              <a:spcAft>
                <a:spcPts val="630"/>
              </a:spcAft>
            </a:pPr>
            <a:r>
              <a:rPr sz="1400" b="0">
                <a:solidFill>
                  <a:srgbClr val="52514E"/>
                </a:solidFill>
                <a:latin typeface="Arial"/>
              </a:rPr>
              <a:t>Yatırım komitesi sunumu · Ekim 2026 · Ahmet Hilmi Görgülü</a:t>
            </a:r>
          </a:p>
        </p:txBody>
      </p:sp>
      <p:sp>
        <p:nvSpPr>
          <p:cNvPr id="7" name="Rectangle 6"/>
          <p:cNvSpPr/>
          <p:nvPr/>
        </p:nvSpPr>
        <p:spPr>
          <a:xfrm>
            <a:off x="502920" y="3931920"/>
            <a:ext cx="3474720"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3931920"/>
            <a:ext cx="64008" cy="146304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96511"/>
            <a:ext cx="3108960"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Baz vaka beklenen NPV</a:t>
            </a:r>
          </a:p>
        </p:txBody>
      </p:sp>
      <p:sp>
        <p:nvSpPr>
          <p:cNvPr id="10" name="TextBox 9"/>
          <p:cNvSpPr txBox="1"/>
          <p:nvPr/>
        </p:nvSpPr>
        <p:spPr>
          <a:xfrm>
            <a:off x="731520" y="4389120"/>
            <a:ext cx="3108960"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−1,7 M$</a:t>
            </a:r>
          </a:p>
        </p:txBody>
      </p:sp>
      <p:sp>
        <p:nvSpPr>
          <p:cNvPr id="11" name="TextBox 10"/>
          <p:cNvSpPr txBox="1"/>
          <p:nvPr/>
        </p:nvSpPr>
        <p:spPr>
          <a:xfrm>
            <a:off x="731520" y="4983479"/>
            <a:ext cx="3108960"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kâr olasılığı %42</a:t>
            </a:r>
          </a:p>
        </p:txBody>
      </p:sp>
      <p:sp>
        <p:nvSpPr>
          <p:cNvPr id="12" name="Rectangle 11"/>
          <p:cNvSpPr/>
          <p:nvPr/>
        </p:nvSpPr>
        <p:spPr>
          <a:xfrm>
            <a:off x="4206240" y="3931920"/>
            <a:ext cx="3474720"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06240" y="3931920"/>
            <a:ext cx="64008" cy="1463040"/>
          </a:xfrm>
          <a:prstGeom prst="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4096511"/>
            <a:ext cx="3108960"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Talep edilen karar</a:t>
            </a:r>
          </a:p>
        </p:txBody>
      </p:sp>
      <p:sp>
        <p:nvSpPr>
          <p:cNvPr id="15" name="TextBox 14"/>
          <p:cNvSpPr txBox="1"/>
          <p:nvPr/>
        </p:nvSpPr>
        <p:spPr>
          <a:xfrm>
            <a:off x="4434840" y="4389120"/>
            <a:ext cx="3108960"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Rafa kaldır</a:t>
            </a:r>
          </a:p>
        </p:txBody>
      </p:sp>
      <p:sp>
        <p:nvSpPr>
          <p:cNvPr id="16" name="TextBox 15"/>
          <p:cNvSpPr txBox="1"/>
          <p:nvPr/>
        </p:nvSpPr>
        <p:spPr>
          <a:xfrm>
            <a:off x="4434840" y="4983479"/>
            <a:ext cx="3108960"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durum tespiti bütçesi ve teklif yok</a:t>
            </a:r>
          </a:p>
        </p:txBody>
      </p:sp>
      <p:sp>
        <p:nvSpPr>
          <p:cNvPr id="17" name="Rectangle 16"/>
          <p:cNvSpPr/>
          <p:nvPr/>
        </p:nvSpPr>
        <p:spPr>
          <a:xfrm>
            <a:off x="7909560" y="3931920"/>
            <a:ext cx="3474720"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09560" y="3931920"/>
            <a:ext cx="64008" cy="14630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4096511"/>
            <a:ext cx="3108960"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Yeniden değerlendirme</a:t>
            </a:r>
          </a:p>
        </p:txBody>
      </p:sp>
      <p:sp>
        <p:nvSpPr>
          <p:cNvPr id="20" name="TextBox 19"/>
          <p:cNvSpPr txBox="1"/>
          <p:nvPr/>
        </p:nvSpPr>
        <p:spPr>
          <a:xfrm>
            <a:off x="8138160" y="4389120"/>
            <a:ext cx="3108960"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5 tetikleyici</a:t>
            </a:r>
          </a:p>
        </p:txBody>
      </p:sp>
      <p:sp>
        <p:nvSpPr>
          <p:cNvPr id="21" name="TextBox 20"/>
          <p:cNvSpPr txBox="1"/>
          <p:nvPr/>
        </p:nvSpPr>
        <p:spPr>
          <a:xfrm>
            <a:off x="8138160" y="4983479"/>
            <a:ext cx="3108960"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YEKDEM endeksleme, fiyat, CAPEX, SFK, kesinti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Değer marjinal olarak negatif (−1,7 M$): edinimi rafa kaldır, gözlenebilir tetikleyicileri izle</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Nihai baz vaka: inşaata hazır proje, COD Kasım 2029; RES 58,8 MW + batarya 30 MW / 60 MWh; YEKDEM yıllık opsiyonu + tüccar</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(Pyomo + HiGHS, Monte Carlo 10.000 simülasyon). Reel 2026 USD, %7 reel WACC.</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2</a:t>
            </a:r>
          </a:p>
        </p:txBody>
      </p:sp>
      <p:sp>
        <p:nvSpPr>
          <p:cNvPr id="7" name="Rectangle 6"/>
          <p:cNvSpPr/>
          <p:nvPr/>
        </p:nvSpPr>
        <p:spPr>
          <a:xfrm>
            <a:off x="502920" y="2011680"/>
            <a:ext cx="2625013"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011680"/>
            <a:ext cx="64008" cy="146304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76272"/>
            <a:ext cx="2259253"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Beklenen NPV</a:t>
            </a:r>
          </a:p>
        </p:txBody>
      </p:sp>
      <p:sp>
        <p:nvSpPr>
          <p:cNvPr id="10" name="TextBox 9"/>
          <p:cNvSpPr txBox="1"/>
          <p:nvPr/>
        </p:nvSpPr>
        <p:spPr>
          <a:xfrm>
            <a:off x="731520" y="2468880"/>
            <a:ext cx="2259253"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−1,7 M$</a:t>
            </a:r>
          </a:p>
        </p:txBody>
      </p:sp>
      <p:sp>
        <p:nvSpPr>
          <p:cNvPr id="11" name="TextBox 10"/>
          <p:cNvSpPr txBox="1"/>
          <p:nvPr/>
        </p:nvSpPr>
        <p:spPr>
          <a:xfrm>
            <a:off x="731520" y="3063240"/>
            <a:ext cx="2259253"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endeksli YEKDEM'de +0,4 M$</a:t>
            </a:r>
          </a:p>
        </p:txBody>
      </p:sp>
      <p:sp>
        <p:nvSpPr>
          <p:cNvPr id="12" name="Rectangle 11"/>
          <p:cNvSpPr/>
          <p:nvPr/>
        </p:nvSpPr>
        <p:spPr>
          <a:xfrm>
            <a:off x="3356533" y="2011680"/>
            <a:ext cx="2625013"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56533" y="2011680"/>
            <a:ext cx="64008" cy="14630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5133" y="2176272"/>
            <a:ext cx="2259253"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Kâr olasılığı P(NPV&gt;0)</a:t>
            </a:r>
          </a:p>
        </p:txBody>
      </p:sp>
      <p:sp>
        <p:nvSpPr>
          <p:cNvPr id="15" name="TextBox 14"/>
          <p:cNvSpPr txBox="1"/>
          <p:nvPr/>
        </p:nvSpPr>
        <p:spPr>
          <a:xfrm>
            <a:off x="3585133" y="2468880"/>
            <a:ext cx="2259253"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%42</a:t>
            </a:r>
          </a:p>
        </p:txBody>
      </p:sp>
      <p:sp>
        <p:nvSpPr>
          <p:cNvPr id="16" name="TextBox 15"/>
          <p:cNvSpPr txBox="1"/>
          <p:nvPr/>
        </p:nvSpPr>
        <p:spPr>
          <a:xfrm>
            <a:off x="3585133" y="3063240"/>
            <a:ext cx="2259253"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saf tüccarda %42</a:t>
            </a:r>
          </a:p>
        </p:txBody>
      </p:sp>
      <p:sp>
        <p:nvSpPr>
          <p:cNvPr id="17" name="Rectangle 16"/>
          <p:cNvSpPr/>
          <p:nvPr/>
        </p:nvSpPr>
        <p:spPr>
          <a:xfrm>
            <a:off x="6210147" y="2011680"/>
            <a:ext cx="2625013"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0147" y="2011680"/>
            <a:ext cx="64008" cy="146304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38747" y="2176272"/>
            <a:ext cx="2259253"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En kötü %5 ortalaması</a:t>
            </a:r>
          </a:p>
        </p:txBody>
      </p:sp>
      <p:sp>
        <p:nvSpPr>
          <p:cNvPr id="20" name="TextBox 19"/>
          <p:cNvSpPr txBox="1"/>
          <p:nvPr/>
        </p:nvSpPr>
        <p:spPr>
          <a:xfrm>
            <a:off x="6438747" y="2468880"/>
            <a:ext cx="2259253"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−28,0 M$</a:t>
            </a:r>
          </a:p>
        </p:txBody>
      </p:sp>
      <p:sp>
        <p:nvSpPr>
          <p:cNvPr id="21" name="TextBox 20"/>
          <p:cNvSpPr txBox="1"/>
          <p:nvPr/>
        </p:nvSpPr>
        <p:spPr>
          <a:xfrm>
            <a:off x="6438747" y="3063240"/>
            <a:ext cx="2259253"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CVaR %5</a:t>
            </a:r>
          </a:p>
        </p:txBody>
      </p:sp>
      <p:sp>
        <p:nvSpPr>
          <p:cNvPr id="22" name="Rectangle 21"/>
          <p:cNvSpPr/>
          <p:nvPr/>
        </p:nvSpPr>
        <p:spPr>
          <a:xfrm>
            <a:off x="9063761" y="2011680"/>
            <a:ext cx="2625013" cy="146304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63761" y="2011680"/>
            <a:ext cx="64008" cy="14630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2361" y="2176272"/>
            <a:ext cx="2259253"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Başabaş beklenen fiyat</a:t>
            </a:r>
          </a:p>
        </p:txBody>
      </p:sp>
      <p:sp>
        <p:nvSpPr>
          <p:cNvPr id="25" name="TextBox 24"/>
          <p:cNvSpPr txBox="1"/>
          <p:nvPr/>
        </p:nvSpPr>
        <p:spPr>
          <a:xfrm>
            <a:off x="9292361" y="2468880"/>
            <a:ext cx="2259253" cy="548640"/>
          </a:xfrm>
          <a:prstGeom prst="rect">
            <a:avLst/>
          </a:prstGeom>
          <a:noFill/>
        </p:spPr>
        <p:txBody>
          <a:bodyPr wrap="square" anchor="t" lIns="0" rIns="0" tIns="0" bIns="0">
            <a:spAutoFit/>
          </a:bodyPr>
          <a:lstStyle/>
          <a:p>
            <a:pPr algn="l">
              <a:spcAft>
                <a:spcPts val="1260"/>
              </a:spcAft>
            </a:pPr>
            <a:r>
              <a:rPr sz="2800" b="1">
                <a:solidFill>
                  <a:srgbClr val="0B0B0B"/>
                </a:solidFill>
                <a:latin typeface="Arial"/>
              </a:rPr>
              <a:t>≈ 59 $/MWh</a:t>
            </a:r>
          </a:p>
        </p:txBody>
      </p:sp>
      <p:sp>
        <p:nvSpPr>
          <p:cNvPr id="26" name="TextBox 25"/>
          <p:cNvSpPr txBox="1"/>
          <p:nvPr/>
        </p:nvSpPr>
        <p:spPr>
          <a:xfrm>
            <a:off x="9292361" y="3063240"/>
            <a:ext cx="2259253" cy="365760"/>
          </a:xfrm>
          <a:prstGeom prst="rect">
            <a:avLst/>
          </a:prstGeom>
          <a:noFill/>
        </p:spPr>
        <p:txBody>
          <a:bodyPr wrap="square" anchor="t" lIns="0" rIns="0" tIns="0" bIns="0">
            <a:spAutoFit/>
          </a:bodyPr>
          <a:lstStyle/>
          <a:p>
            <a:pPr algn="l">
              <a:spcAft>
                <a:spcPts val="450"/>
              </a:spcAft>
            </a:pPr>
            <a:r>
              <a:rPr sz="1000" b="0">
                <a:solidFill>
                  <a:srgbClr val="52514E"/>
                </a:solidFill>
                <a:latin typeface="Arial"/>
              </a:rPr>
              <a:t>baz varsayım 58 $/MWh</a:t>
            </a:r>
          </a:p>
        </p:txBody>
      </p:sp>
      <p:sp>
        <p:nvSpPr>
          <p:cNvPr id="27" name="TextBox 26"/>
          <p:cNvSpPr txBox="1"/>
          <p:nvPr/>
        </p:nvSpPr>
        <p:spPr>
          <a:xfrm>
            <a:off x="502920" y="3840480"/>
            <a:ext cx="11185855" cy="2560320"/>
          </a:xfrm>
          <a:prstGeom prst="rect">
            <a:avLst/>
          </a:prstGeom>
          <a:noFill/>
        </p:spPr>
        <p:txBody>
          <a:bodyPr wrap="square" anchor="t" lIns="0" rIns="0" tIns="0" bIns="0">
            <a:spAutoFit/>
          </a:bodyPr>
          <a:lstStyle/>
          <a:p>
            <a:pPr algn="l">
              <a:spcAft>
                <a:spcPts val="675"/>
              </a:spcAft>
            </a:pPr>
            <a:r>
              <a:rPr sz="1500" b="1">
                <a:solidFill>
                  <a:srgbClr val="0B0B0B"/>
                </a:solidFill>
                <a:latin typeface="Arial"/>
              </a:rPr>
              <a:t>GES elendi. </a:t>
            </a:r>
            <a:r>
              <a:rPr sz="1500" b="0">
                <a:solidFill>
                  <a:srgbClr val="0B0B0B"/>
                </a:solidFill>
                <a:latin typeface="Arial"/>
              </a:rPr>
              <a:t>Güneş kendi öğle fiyatını düşürüyor; hiçbir optimal tasarıma girmedi.</a:t>
            </a:r>
          </a:p>
          <a:p>
            <a:pPr algn="l">
              <a:spcAft>
                <a:spcPts val="675"/>
              </a:spcAft>
            </a:pPr>
            <a:r>
              <a:rPr sz="1500" b="1">
                <a:solidFill>
                  <a:srgbClr val="0B0B0B"/>
                </a:solidFill>
                <a:latin typeface="Arial"/>
              </a:rPr>
              <a:t>Batarya SFK geliri için. </a:t>
            </a:r>
            <a:r>
              <a:rPr sz="1500" b="0">
                <a:solidFill>
                  <a:srgbClr val="0B0B0B"/>
                </a:solidFill>
                <a:latin typeface="Arial"/>
              </a:rPr>
              <a:t>30 MW, ikili SFK katılım eşiği; piyasa doyarsa kaybı küçük, yavaş doyumda kazancı büyük.</a:t>
            </a:r>
          </a:p>
          <a:p>
            <a:pPr algn="l">
              <a:spcAft>
                <a:spcPts val="675"/>
              </a:spcAft>
            </a:pPr>
            <a:r>
              <a:rPr sz="1500" b="1">
                <a:solidFill>
                  <a:srgbClr val="0B0B0B"/>
                </a:solidFill>
                <a:latin typeface="Arial"/>
              </a:rPr>
              <a:t>YEKDEM bir taban. </a:t>
            </a:r>
            <a:r>
              <a:rPr sz="1500" b="0">
                <a:solidFill>
                  <a:srgbClr val="0B0B0B"/>
                </a:solidFill>
                <a:latin typeface="Arial"/>
              </a:rPr>
              <a:t>Her yıl seçilebilen opsiyon olarak değerli; 10 yıl kilitlemek E[NPV]'yi −12,2 M$'a düşürüyor.</a:t>
            </a:r>
          </a:p>
          <a:p>
            <a:pPr algn="l">
              <a:spcAft>
                <a:spcPts val="675"/>
              </a:spcAft>
            </a:pPr>
            <a:r>
              <a:rPr sz="1500" b="1">
                <a:solidFill>
                  <a:srgbClr val="0B0B0B"/>
                </a:solidFill>
                <a:latin typeface="Arial"/>
              </a:rPr>
              <a:t>Önceki +1,5 M$ bir tutarsızlıktı. </a:t>
            </a:r>
            <a:r>
              <a:rPr sz="1500" b="0">
                <a:solidFill>
                  <a:srgbClr val="0B0B0B"/>
                </a:solidFill>
                <a:latin typeface="Arial"/>
              </a:rPr>
              <a:t>Monte Carlo'da 58 fiyatın medyanıydı; ortalama 61,8'e çıkıyordu. Düzeltilince −1,7 M$.</a:t>
            </a:r>
          </a:p>
          <a:p>
            <a:pPr algn="l">
              <a:spcAft>
                <a:spcPts val="675"/>
              </a:spcAft>
            </a:pPr>
            <a:r>
              <a:rPr sz="1500" b="1">
                <a:solidFill>
                  <a:srgbClr val="0B0B0B"/>
                </a:solidFill>
                <a:latin typeface="Arial"/>
              </a:rPr>
              <a:t>Durum tespitinin bilgi değeri sıfır. </a:t>
            </a:r>
            <a:r>
              <a:rPr sz="1500" b="0">
                <a:solidFill>
                  <a:srgbClr val="0B0B0B"/>
                </a:solidFill>
                <a:latin typeface="Arial"/>
              </a:rPr>
              <a:t>Olumlu sonuçlar bile E[NPV]'yi pozitife çevirmiyor; tek istisna YEKDEM endekslemesi.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50 MW bağlantıya ne kurulmalı sorusunu saatlik optimizasyon ve 10.000 senaryolu risk modeliyle yanıtladık</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Soru: güneş, rüzgâr ve batarya kapasitelerinin hangi bileşimi şebeke kısıtı altında proje değerini en yüksek yapar ve bu yatırım belirsizlik altında yapılmalı mı?</a:t>
            </a:r>
          </a:p>
        </p:txBody>
      </p:sp>
      <p:sp>
        <p:nvSpPr>
          <p:cNvPr id="5" name="TextBox 4"/>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3</a:t>
            </a:r>
          </a:p>
        </p:txBody>
      </p:sp>
      <p:sp>
        <p:nvSpPr>
          <p:cNvPr id="6" name="Rectangle 5"/>
          <p:cNvSpPr/>
          <p:nvPr/>
        </p:nvSpPr>
        <p:spPr>
          <a:xfrm>
            <a:off x="502920" y="2468880"/>
            <a:ext cx="1981139" cy="201168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468880"/>
            <a:ext cx="64008" cy="201168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33472"/>
            <a:ext cx="1615379"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1</a:t>
            </a:r>
          </a:p>
        </p:txBody>
      </p:sp>
      <p:sp>
        <p:nvSpPr>
          <p:cNvPr id="9" name="TextBox 8"/>
          <p:cNvSpPr txBox="1"/>
          <p:nvPr/>
        </p:nvSpPr>
        <p:spPr>
          <a:xfrm>
            <a:off x="731520" y="2926080"/>
            <a:ext cx="1615379" cy="548640"/>
          </a:xfrm>
          <a:prstGeom prst="rect">
            <a:avLst/>
          </a:prstGeom>
          <a:noFill/>
        </p:spPr>
        <p:txBody>
          <a:bodyPr wrap="square" anchor="t" lIns="0" rIns="0" tIns="0" bIns="0">
            <a:spAutoFit/>
          </a:bodyPr>
          <a:lstStyle/>
          <a:p>
            <a:pPr algn="l">
              <a:spcAft>
                <a:spcPts val="765"/>
              </a:spcAft>
            </a:pPr>
            <a:r>
              <a:rPr sz="1700" b="1">
                <a:solidFill>
                  <a:srgbClr val="0B0B0B"/>
                </a:solidFill>
                <a:latin typeface="Arial"/>
              </a:rPr>
              <a:t>Üretim</a:t>
            </a:r>
          </a:p>
        </p:txBody>
      </p:sp>
      <p:sp>
        <p:nvSpPr>
          <p:cNvPr id="10" name="TextBox 9"/>
          <p:cNvSpPr txBox="1"/>
          <p:nvPr/>
        </p:nvSpPr>
        <p:spPr>
          <a:xfrm>
            <a:off x="731520" y="3291840"/>
            <a:ext cx="1615379" cy="109728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PVGIS, ERA5 · 10 hava yılı</a:t>
            </a:r>
          </a:p>
          <a:p>
            <a:pPr algn="l">
              <a:spcAft>
                <a:spcPts val="495"/>
              </a:spcAft>
            </a:pPr>
            <a:r>
              <a:rPr sz="1100" b="0">
                <a:solidFill>
                  <a:srgbClr val="52514E"/>
                </a:solidFill>
                <a:latin typeface="Arial"/>
              </a:rPr>
              <a:t>EPİAŞ santral verisiyle kalibrasyon</a:t>
            </a:r>
          </a:p>
        </p:txBody>
      </p:sp>
      <p:sp>
        <p:nvSpPr>
          <p:cNvPr id="11" name="Right Arrow 10"/>
          <p:cNvSpPr/>
          <p:nvPr/>
        </p:nvSpPr>
        <p:spPr>
          <a:xfrm>
            <a:off x="2548067" y="3337560"/>
            <a:ext cx="192024" cy="274320"/>
          </a:xfrm>
          <a:prstGeom prst="rightArrow">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04099" y="2468880"/>
            <a:ext cx="1981139" cy="201168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04099" y="2468880"/>
            <a:ext cx="64008" cy="201168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699" y="2633472"/>
            <a:ext cx="1615379"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2</a:t>
            </a:r>
          </a:p>
        </p:txBody>
      </p:sp>
      <p:sp>
        <p:nvSpPr>
          <p:cNvPr id="15" name="TextBox 14"/>
          <p:cNvSpPr txBox="1"/>
          <p:nvPr/>
        </p:nvSpPr>
        <p:spPr>
          <a:xfrm>
            <a:off x="3032699" y="2926080"/>
            <a:ext cx="1615379" cy="548640"/>
          </a:xfrm>
          <a:prstGeom prst="rect">
            <a:avLst/>
          </a:prstGeom>
          <a:noFill/>
        </p:spPr>
        <p:txBody>
          <a:bodyPr wrap="square" anchor="t" lIns="0" rIns="0" tIns="0" bIns="0">
            <a:spAutoFit/>
          </a:bodyPr>
          <a:lstStyle/>
          <a:p>
            <a:pPr algn="l">
              <a:spcAft>
                <a:spcPts val="765"/>
              </a:spcAft>
            </a:pPr>
            <a:r>
              <a:rPr sz="1700" b="1">
                <a:solidFill>
                  <a:srgbClr val="0B0B0B"/>
                </a:solidFill>
                <a:latin typeface="Arial"/>
              </a:rPr>
              <a:t>Piyasa</a:t>
            </a:r>
          </a:p>
        </p:txBody>
      </p:sp>
      <p:sp>
        <p:nvSpPr>
          <p:cNvPr id="16" name="TextBox 15"/>
          <p:cNvSpPr txBox="1"/>
          <p:nvPr/>
        </p:nvSpPr>
        <p:spPr>
          <a:xfrm>
            <a:off x="3032699" y="3291840"/>
            <a:ext cx="1615379" cy="109728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EPİAŞ PTF 2014–2026</a:t>
            </a:r>
          </a:p>
          <a:p>
            <a:pPr algn="l">
              <a:spcAft>
                <a:spcPts val="495"/>
              </a:spcAft>
            </a:pPr>
            <a:r>
              <a:rPr sz="1100" b="0">
                <a:solidFill>
                  <a:srgbClr val="52514E"/>
                </a:solidFill>
                <a:latin typeface="Arial"/>
              </a:rPr>
              <a:t>yakalama oranı, kanibalizasyon</a:t>
            </a:r>
          </a:p>
        </p:txBody>
      </p:sp>
      <p:sp>
        <p:nvSpPr>
          <p:cNvPr id="17" name="Right Arrow 16"/>
          <p:cNvSpPr/>
          <p:nvPr/>
        </p:nvSpPr>
        <p:spPr>
          <a:xfrm>
            <a:off x="4849246" y="3337560"/>
            <a:ext cx="192024" cy="274320"/>
          </a:xfrm>
          <a:prstGeom prst="rightArrow">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05278" y="2468880"/>
            <a:ext cx="1981139" cy="201168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5278" y="2468880"/>
            <a:ext cx="64008" cy="201168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33878" y="2633472"/>
            <a:ext cx="1615379"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3</a:t>
            </a:r>
          </a:p>
        </p:txBody>
      </p:sp>
      <p:sp>
        <p:nvSpPr>
          <p:cNvPr id="21" name="TextBox 20"/>
          <p:cNvSpPr txBox="1"/>
          <p:nvPr/>
        </p:nvSpPr>
        <p:spPr>
          <a:xfrm>
            <a:off x="5333878" y="2926080"/>
            <a:ext cx="1615379" cy="548640"/>
          </a:xfrm>
          <a:prstGeom prst="rect">
            <a:avLst/>
          </a:prstGeom>
          <a:noFill/>
        </p:spPr>
        <p:txBody>
          <a:bodyPr wrap="square" anchor="t" lIns="0" rIns="0" tIns="0" bIns="0">
            <a:spAutoFit/>
          </a:bodyPr>
          <a:lstStyle/>
          <a:p>
            <a:pPr algn="l">
              <a:spcAft>
                <a:spcPts val="765"/>
              </a:spcAft>
            </a:pPr>
            <a:r>
              <a:rPr sz="1700" b="1">
                <a:solidFill>
                  <a:srgbClr val="0B0B0B"/>
                </a:solidFill>
                <a:latin typeface="Arial"/>
              </a:rPr>
              <a:t>Optimizasyon</a:t>
            </a:r>
          </a:p>
        </p:txBody>
      </p:sp>
      <p:sp>
        <p:nvSpPr>
          <p:cNvPr id="22" name="TextBox 21"/>
          <p:cNvSpPr txBox="1"/>
          <p:nvPr/>
        </p:nvSpPr>
        <p:spPr>
          <a:xfrm>
            <a:off x="5333878" y="3291840"/>
            <a:ext cx="1615379" cy="109728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Pyomo + HiGHS MILP</a:t>
            </a:r>
          </a:p>
          <a:p>
            <a:pPr algn="l">
              <a:spcAft>
                <a:spcPts val="495"/>
              </a:spcAft>
            </a:pPr>
            <a:r>
              <a:rPr sz="1100" b="0">
                <a:solidFill>
                  <a:srgbClr val="52514E"/>
                </a:solidFill>
                <a:latin typeface="Arial"/>
              </a:rPr>
              <a:t>8760 saat · kapasite + dispatch</a:t>
            </a:r>
          </a:p>
        </p:txBody>
      </p:sp>
      <p:sp>
        <p:nvSpPr>
          <p:cNvPr id="23" name="Right Arrow 22"/>
          <p:cNvSpPr/>
          <p:nvPr/>
        </p:nvSpPr>
        <p:spPr>
          <a:xfrm>
            <a:off x="7150425" y="3337560"/>
            <a:ext cx="192024" cy="274320"/>
          </a:xfrm>
          <a:prstGeom prst="rightArrow">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457" y="2468880"/>
            <a:ext cx="1981139" cy="201168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06457" y="2468880"/>
            <a:ext cx="64008" cy="201168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057" y="2633472"/>
            <a:ext cx="1615379"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4</a:t>
            </a:r>
          </a:p>
        </p:txBody>
      </p:sp>
      <p:sp>
        <p:nvSpPr>
          <p:cNvPr id="27" name="TextBox 26"/>
          <p:cNvSpPr txBox="1"/>
          <p:nvPr/>
        </p:nvSpPr>
        <p:spPr>
          <a:xfrm>
            <a:off x="7635057" y="2926080"/>
            <a:ext cx="1615379" cy="548640"/>
          </a:xfrm>
          <a:prstGeom prst="rect">
            <a:avLst/>
          </a:prstGeom>
          <a:noFill/>
        </p:spPr>
        <p:txBody>
          <a:bodyPr wrap="square" anchor="t" lIns="0" rIns="0" tIns="0" bIns="0">
            <a:spAutoFit/>
          </a:bodyPr>
          <a:lstStyle/>
          <a:p>
            <a:pPr algn="l">
              <a:spcAft>
                <a:spcPts val="765"/>
              </a:spcAft>
            </a:pPr>
            <a:r>
              <a:rPr sz="1700" b="1">
                <a:solidFill>
                  <a:srgbClr val="0B0B0B"/>
                </a:solidFill>
                <a:latin typeface="Arial"/>
              </a:rPr>
              <a:t>Finans</a:t>
            </a:r>
          </a:p>
        </p:txBody>
      </p:sp>
      <p:sp>
        <p:nvSpPr>
          <p:cNvPr id="28" name="TextBox 27"/>
          <p:cNvSpPr txBox="1"/>
          <p:nvPr/>
        </p:nvSpPr>
        <p:spPr>
          <a:xfrm>
            <a:off x="7635057" y="3291840"/>
            <a:ext cx="1615379" cy="109728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NPV, IRR, DSCR, LCOE</a:t>
            </a:r>
          </a:p>
          <a:p>
            <a:pPr algn="l">
              <a:spcAft>
                <a:spcPts val="495"/>
              </a:spcAft>
            </a:pPr>
            <a:r>
              <a:rPr sz="1100" b="0">
                <a:solidFill>
                  <a:srgbClr val="52514E"/>
                </a:solidFill>
                <a:latin typeface="Arial"/>
              </a:rPr>
              <a:t>Excel modeli ile 48/48 mutabık</a:t>
            </a:r>
          </a:p>
        </p:txBody>
      </p:sp>
      <p:sp>
        <p:nvSpPr>
          <p:cNvPr id="29" name="Right Arrow 28"/>
          <p:cNvSpPr/>
          <p:nvPr/>
        </p:nvSpPr>
        <p:spPr>
          <a:xfrm>
            <a:off x="9451604" y="3337560"/>
            <a:ext cx="192024" cy="274320"/>
          </a:xfrm>
          <a:prstGeom prst="rightArrow">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07636" y="2468880"/>
            <a:ext cx="1981139" cy="2011680"/>
          </a:xfrm>
          <a:prstGeom prst="rect">
            <a:avLst/>
          </a:prstGeom>
          <a:solidFill>
            <a:srgbClr val="F5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707636" y="2468880"/>
            <a:ext cx="64008" cy="201168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36236" y="2633472"/>
            <a:ext cx="1615379" cy="27432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5</a:t>
            </a:r>
          </a:p>
        </p:txBody>
      </p:sp>
      <p:sp>
        <p:nvSpPr>
          <p:cNvPr id="33" name="TextBox 32"/>
          <p:cNvSpPr txBox="1"/>
          <p:nvPr/>
        </p:nvSpPr>
        <p:spPr>
          <a:xfrm>
            <a:off x="9936236" y="2926080"/>
            <a:ext cx="1615379" cy="548640"/>
          </a:xfrm>
          <a:prstGeom prst="rect">
            <a:avLst/>
          </a:prstGeom>
          <a:noFill/>
        </p:spPr>
        <p:txBody>
          <a:bodyPr wrap="square" anchor="t" lIns="0" rIns="0" tIns="0" bIns="0">
            <a:spAutoFit/>
          </a:bodyPr>
          <a:lstStyle/>
          <a:p>
            <a:pPr algn="l">
              <a:spcAft>
                <a:spcPts val="765"/>
              </a:spcAft>
            </a:pPr>
            <a:r>
              <a:rPr sz="1700" b="1">
                <a:solidFill>
                  <a:srgbClr val="0B0B0B"/>
                </a:solidFill>
                <a:latin typeface="Arial"/>
              </a:rPr>
              <a:t>Risk</a:t>
            </a:r>
          </a:p>
        </p:txBody>
      </p:sp>
      <p:sp>
        <p:nvSpPr>
          <p:cNvPr id="34" name="TextBox 33"/>
          <p:cNvSpPr txBox="1"/>
          <p:nvPr/>
        </p:nvSpPr>
        <p:spPr>
          <a:xfrm>
            <a:off x="9936236" y="3291840"/>
            <a:ext cx="1615379" cy="1097280"/>
          </a:xfrm>
          <a:prstGeom prst="rect">
            <a:avLst/>
          </a:prstGeom>
          <a:noFill/>
        </p:spPr>
        <p:txBody>
          <a:bodyPr wrap="square" anchor="t" lIns="0" rIns="0" tIns="0" bIns="0">
            <a:spAutoFit/>
          </a:bodyPr>
          <a:lstStyle/>
          <a:p>
            <a:pPr algn="l">
              <a:spcAft>
                <a:spcPts val="495"/>
              </a:spcAft>
            </a:pPr>
            <a:r>
              <a:rPr sz="1100" b="0">
                <a:solidFill>
                  <a:srgbClr val="52514E"/>
                </a:solidFill>
                <a:latin typeface="Arial"/>
              </a:rPr>
              <a:t>Monte Carlo 10.000 · SFK doyumu</a:t>
            </a:r>
          </a:p>
          <a:p>
            <a:pPr algn="l">
              <a:spcAft>
                <a:spcPts val="495"/>
              </a:spcAft>
            </a:pPr>
            <a:r>
              <a:rPr sz="1100" b="0">
                <a:solidFill>
                  <a:srgbClr val="52514E"/>
                </a:solidFill>
                <a:latin typeface="Arial"/>
              </a:rPr>
              <a:t>takvim (CPM), kesinti, YEKDEM</a:t>
            </a:r>
          </a:p>
        </p:txBody>
      </p:sp>
      <p:sp>
        <p:nvSpPr>
          <p:cNvPr id="35" name="TextBox 34"/>
          <p:cNvSpPr txBox="1"/>
          <p:nvPr/>
        </p:nvSpPr>
        <p:spPr>
          <a:xfrm>
            <a:off x="502920" y="4937760"/>
            <a:ext cx="11185855" cy="109728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Tüm varsayımlar kaynaklarıyla config.yaml'da; her optimizasyon modelinin matematiksel formülasyonu docs/ altında.</a:t>
            </a:r>
          </a:p>
          <a:p>
            <a:pPr algn="l">
              <a:spcAft>
                <a:spcPts val="585"/>
              </a:spcAft>
            </a:pPr>
            <a:r>
              <a:rPr sz="1300" b="0">
                <a:solidFill>
                  <a:srgbClr val="52514E"/>
                </a:solidFill>
                <a:latin typeface="Arial"/>
              </a:rPr>
              <a:t>Karar ölçütü: beklenen NPV, kâr olasılığı ve kuyruk riski (CVaR) birlikte; değer pozitif ama inceyse kademeli karar.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Ezine dört aday saha arasında en güçlü rüzgâra sahip; model EPİAŞ santral verisiyle kalibre edildi</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Sol: aday sahaların kapasite faktörü. Sağ: komşu RES'in gerçek üretimi ile modelin yıllık karşılaştırması (ay × saat hız katsayısı).</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PVGIS-SARAH3, ERA5, EPİAŞ Şeffaflık Platformu; kendi modelim (pvlib, windpowerlib).</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4</a:t>
            </a:r>
          </a:p>
        </p:txBody>
      </p:sp>
      <p:pic>
        <p:nvPicPr>
          <p:cNvPr id="7" name="Picture 6" descr="kapasite_faktorleri.png"/>
          <p:cNvPicPr>
            <a:picLocks noChangeAspect="1"/>
          </p:cNvPicPr>
          <p:nvPr/>
        </p:nvPicPr>
        <p:blipFill>
          <a:blip r:embed="rId2"/>
          <a:stretch>
            <a:fillRect/>
          </a:stretch>
        </p:blipFill>
        <p:spPr>
          <a:xfrm>
            <a:off x="502920" y="2793492"/>
            <a:ext cx="5120640" cy="2688335"/>
          </a:xfrm>
          <a:prstGeom prst="rect">
            <a:avLst/>
          </a:prstGeom>
        </p:spPr>
      </p:pic>
      <p:pic>
        <p:nvPicPr>
          <p:cNvPr id="8" name="Picture 7" descr="kalibrasyon_yillik.png"/>
          <p:cNvPicPr>
            <a:picLocks noChangeAspect="1"/>
          </p:cNvPicPr>
          <p:nvPr/>
        </p:nvPicPr>
        <p:blipFill>
          <a:blip r:embed="rId3"/>
          <a:stretch>
            <a:fillRect/>
          </a:stretch>
        </p:blipFill>
        <p:spPr>
          <a:xfrm>
            <a:off x="5897880" y="2710003"/>
            <a:ext cx="5790895" cy="2855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Güneş kendi fiyatını düşürüyor: yakalanma oranı 2016'da %120, 2026'da %70; rüzgâr ortalamada kalıyor</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Yakalanma oranı = üretim ağırlıklı fiyat / ortalama fiyat. Öğle saatlerinde fiyat çöküyor (ördek eğrisi), gece ve akşam rüzgârı değerli.</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EPİAŞ PTF; Ezine üretim profilleri kendi modelim.</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5</a:t>
            </a:r>
          </a:p>
        </p:txBody>
      </p:sp>
      <p:pic>
        <p:nvPicPr>
          <p:cNvPr id="7" name="Picture 6" descr="yakalanma_orani_trendi.png"/>
          <p:cNvPicPr>
            <a:picLocks noChangeAspect="1"/>
          </p:cNvPicPr>
          <p:nvPr/>
        </p:nvPicPr>
        <p:blipFill>
          <a:blip r:embed="rId2"/>
          <a:stretch>
            <a:fillRect/>
          </a:stretch>
        </p:blipFill>
        <p:spPr>
          <a:xfrm>
            <a:off x="502920" y="2031864"/>
            <a:ext cx="11185855" cy="421159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GES hiçbir optimal tasarıma girmedi: güneş eklemek her senaryoda NPV'yi düşürüyor</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RES 58,8 MW sabit, 50 MW bağlantı. Hücre: en iyi tasarıma göre NPV farkı. Güneş, rüzgârın zaten doldurduğu bağlantıyla da çakışıyor.</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(Pyomo + HiGHS, Monte Carlo 10.000 simülasyon). Reel 2026 USD, %7 reel WACC.</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6</a:t>
            </a:r>
          </a:p>
        </p:txBody>
      </p:sp>
      <p:pic>
        <p:nvPicPr>
          <p:cNvPr id="7" name="Picture 6" descr="b4_ges_bess_npv_izgara.png"/>
          <p:cNvPicPr>
            <a:picLocks noChangeAspect="1"/>
          </p:cNvPicPr>
          <p:nvPr/>
        </p:nvPicPr>
        <p:blipFill>
          <a:blip r:embed="rId2"/>
          <a:stretch>
            <a:fillRect/>
          </a:stretch>
        </p:blipFill>
        <p:spPr>
          <a:xfrm>
            <a:off x="2280058" y="1920240"/>
            <a:ext cx="7631578" cy="4434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Bataryanın değeri SFK'dan geliyor; piyasa doyarsa avantaj kayboluyor ama kayıp küçük kalıyor</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28–33 GW'lık depolama boru hattı ~1 GW'lık SFK ihtiyacını doyurabilir. Seçilen tasarım (F2 ailesi) yavaş doyumda kazanıyor, hızlı doyumda az kaybediyor.</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doyum kalibrasyonu İngiltere DC ve Almanya FCR deneyimi; Türkiye depolama: EPDK, ETKB.</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7</a:t>
            </a:r>
          </a:p>
        </p:txBody>
      </p:sp>
      <p:pic>
        <p:nvPicPr>
          <p:cNvPr id="7" name="Picture 6" descr="s_senaryo_npv.png"/>
          <p:cNvPicPr>
            <a:picLocks noChangeAspect="1"/>
          </p:cNvPicPr>
          <p:nvPr/>
        </p:nvPicPr>
        <p:blipFill>
          <a:blip r:embed="rId2"/>
          <a:stretch>
            <a:fillRect/>
          </a:stretch>
        </p:blipFill>
        <p:spPr>
          <a:xfrm>
            <a:off x="1305564" y="1920240"/>
            <a:ext cx="9580566" cy="44348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YEKDEM'i her yıl seçilebilen bir taban olarak kullanmak en iyi yapı, ama nominal koridorda değer yine negatif</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YEK Yönetmeliği md. 4/2, 5/1: katılım her yıl 30 Kasım'a kadar ayrı karar. Opsiyon, fiyat düştüğü yıllarda koridora sığınma hakkı veriyor.</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(Pyomo + HiGHS, Monte Carlo 10.000 simülasyon). Reel 2026 USD, %7 reel WACC.</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8</a:t>
            </a:r>
          </a:p>
        </p:txBody>
      </p:sp>
      <p:pic>
        <p:nvPicPr>
          <p:cNvPr id="7" name="Picture 6" descr="gelir_yapilari.png"/>
          <p:cNvPicPr>
            <a:picLocks noChangeAspect="1"/>
          </p:cNvPicPr>
          <p:nvPr/>
        </p:nvPicPr>
        <p:blipFill>
          <a:blip r:embed="rId2"/>
          <a:stretch>
            <a:fillRect/>
          </a:stretch>
        </p:blipFill>
        <p:spPr>
          <a:xfrm>
            <a:off x="502920" y="2356527"/>
            <a:ext cx="11185855" cy="35622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İnşaata hazır proje Kasım 2029'da devrede; geliştirmeden başlamak COD'u 2032'ye itip YEKDEM hakkını kaybettiriyor</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CPM + Monte Carlo (üçgen süreler). Kritik yol: devir → finansman → türbin tedariki (12–30 ay) → montaj → devreye alma.</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süreler ÇED özetleri, EPDK mevzuatı ve sektör kaynakları (docs/07).</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9</a:t>
            </a:r>
          </a:p>
        </p:txBody>
      </p:sp>
      <p:pic>
        <p:nvPicPr>
          <p:cNvPr id="7" name="Picture 6" descr="cod_dagilimi.png"/>
          <p:cNvPicPr>
            <a:picLocks noChangeAspect="1"/>
          </p:cNvPicPr>
          <p:nvPr/>
        </p:nvPicPr>
        <p:blipFill>
          <a:blip r:embed="rId2"/>
          <a:stretch>
            <a:fillRect/>
          </a:stretch>
        </p:blipFill>
        <p:spPr>
          <a:xfrm>
            <a:off x="673371" y="1920240"/>
            <a:ext cx="10844952" cy="44348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En büyük riskler fiyat seviyesi, SFK doyumu ve takvim; azaltımlar hepsini kırmızı bölgeden çıkarıyor</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20 maddelik risk kaydı (outputs/07/risk_kaydi.xlsx): olasılık × etki, azaltım öncesi ve sonrası.</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değerlendirmem (puanlar uzman yargısı); sayısal etkiler model çıktılarından.</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10</a:t>
            </a:r>
          </a:p>
        </p:txBody>
      </p:sp>
      <p:pic>
        <p:nvPicPr>
          <p:cNvPr id="7" name="Picture 6" descr="risk_isi_haritasi.png"/>
          <p:cNvPicPr>
            <a:picLocks noChangeAspect="1"/>
          </p:cNvPicPr>
          <p:nvPr/>
        </p:nvPicPr>
        <p:blipFill>
          <a:blip r:embed="rId2"/>
          <a:stretch>
            <a:fillRect/>
          </a:stretch>
        </p:blipFill>
        <p:spPr>
          <a:xfrm>
            <a:off x="770495" y="1920240"/>
            <a:ext cx="10650704" cy="44348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Karar beş kez değişti: iyimser SFK, kötümser sabit YEKDEM ve iyimser fiyat ortalaması varsayımları düzeltildi</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Her nokta o aşamadaki önerinin beklenen NPV'si. Tutarlılık 2: YEKDEM yıllık opsiyonu, ortak batarya sürücüsü, inşaata hazır takvim. Nihai: 58 $/MWh medyan değil beklenen değer.</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(Pyomo + HiGHS, Monte Carlo 10.000 simülasyon). Reel 2026 USD, %7 reel WACC.</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11</a:t>
            </a:r>
          </a:p>
        </p:txBody>
      </p:sp>
      <p:pic>
        <p:nvPicPr>
          <p:cNvPr id="7" name="Picture 6" descr="karar_yolculugu.png"/>
          <p:cNvPicPr>
            <a:picLocks noChangeAspect="1"/>
          </p:cNvPicPr>
          <p:nvPr/>
        </p:nvPicPr>
        <p:blipFill>
          <a:blip r:embed="rId2"/>
          <a:stretch>
            <a:fillRect/>
          </a:stretch>
        </p:blipFill>
        <p:spPr>
          <a:xfrm>
            <a:off x="1488669" y="1920240"/>
            <a:ext cx="9214356" cy="4434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Talep: edinimi rafa kaldır; değeri pozitif gösteren fark fiyat ortalamasındaki bir ayar hatasıydı</a:t>
            </a:r>
          </a:p>
        </p:txBody>
      </p:sp>
      <p:sp>
        <p:nvSpPr>
          <p:cNvPr id="4" name="TextBox 3"/>
          <p:cNvSpPr txBox="1"/>
          <p:nvPr/>
        </p:nvSpPr>
        <p:spPr>
          <a:xfrm>
            <a:off x="502920" y="1417320"/>
            <a:ext cx="11185855" cy="365760"/>
          </a:xfrm>
          <a:prstGeom prst="rect">
            <a:avLst/>
          </a:prstGeom>
          <a:noFill/>
        </p:spPr>
        <p:txBody>
          <a:bodyPr wrap="square" anchor="t" lIns="0" rIns="0" tIns="0" bIns="0">
            <a:spAutoFit/>
          </a:bodyPr>
          <a:lstStyle/>
          <a:p>
            <a:pPr algn="l">
              <a:spcAft>
                <a:spcPts val="585"/>
              </a:spcAft>
            </a:pPr>
            <a:r>
              <a:rPr sz="1300" b="0">
                <a:solidFill>
                  <a:srgbClr val="52514E"/>
                </a:solidFill>
                <a:latin typeface="Arial"/>
              </a:rPr>
              <a:t>Deterministik baz (−2,4 M$) ile Monte Carlo arasındaki fark bileşenlere ayrıldı. Çubuk: düzeltme sonrası; nokta: öncesi (58 = medyan).</a:t>
            </a:r>
          </a:p>
        </p:txBody>
      </p:sp>
      <p:sp>
        <p:nvSpPr>
          <p:cNvPr id="5" name="TextBox 4"/>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Kaynak: kendi modelim (Pyomo + HiGHS, Monte Carlo 10.000 simülasyon). Reel 2026 USD, %7 reel WACC.</a:t>
            </a:r>
          </a:p>
        </p:txBody>
      </p:sp>
      <p:sp>
        <p:nvSpPr>
          <p:cNvPr id="6" name="TextBox 5"/>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12</a:t>
            </a:r>
          </a:p>
        </p:txBody>
      </p:sp>
      <p:pic>
        <p:nvPicPr>
          <p:cNvPr id="7" name="Picture 6" descr="kopru.png"/>
          <p:cNvPicPr>
            <a:picLocks noChangeAspect="1"/>
          </p:cNvPicPr>
          <p:nvPr/>
        </p:nvPicPr>
        <p:blipFill>
          <a:blip r:embed="rId2"/>
          <a:stretch>
            <a:fillRect/>
          </a:stretch>
        </p:blipFill>
        <p:spPr>
          <a:xfrm>
            <a:off x="502920" y="2336057"/>
            <a:ext cx="6766560" cy="3648924"/>
          </a:xfrm>
          <a:prstGeom prst="rect">
            <a:avLst/>
          </a:prstGeom>
        </p:spPr>
      </p:pic>
      <p:sp>
        <p:nvSpPr>
          <p:cNvPr id="8" name="TextBox 7"/>
          <p:cNvSpPr txBox="1"/>
          <p:nvPr/>
        </p:nvSpPr>
        <p:spPr>
          <a:xfrm>
            <a:off x="7635240" y="2057400"/>
            <a:ext cx="4053535" cy="4206240"/>
          </a:xfrm>
          <a:prstGeom prst="rect">
            <a:avLst/>
          </a:prstGeom>
          <a:noFill/>
        </p:spPr>
        <p:txBody>
          <a:bodyPr wrap="square" anchor="t" lIns="0" rIns="0" tIns="0" bIns="0">
            <a:spAutoFit/>
          </a:bodyPr>
          <a:lstStyle/>
          <a:p>
            <a:pPr algn="l">
              <a:spcAft>
                <a:spcPts val="585"/>
              </a:spcAft>
            </a:pPr>
            <a:r>
              <a:rPr sz="1300" b="1">
                <a:solidFill>
                  <a:srgbClr val="0B0B0B"/>
                </a:solidFill>
                <a:latin typeface="Arial"/>
              </a:rPr>
              <a:t>Durum tespiti bütçesi ve teklif yok</a:t>
            </a:r>
          </a:p>
          <a:p>
            <a:pPr algn="l">
              <a:spcAft>
                <a:spcPts val="585"/>
              </a:spcAft>
            </a:pPr>
            <a:r>
              <a:rPr sz="1300" b="0">
                <a:solidFill>
                  <a:srgbClr val="0B0B0B"/>
                </a:solidFill>
                <a:latin typeface="Arial"/>
              </a:rPr>
              <a:t>TEİAŞ, teşvik ve ornitoloji kalemleri olumlu sonuçlansa bile E[NPV] &lt; 0: bilgi değerleri sıfır.</a:t>
            </a:r>
          </a:p>
          <a:p>
            <a:pPr algn="l">
              <a:spcAft>
                <a:spcPts val="585"/>
              </a:spcAft>
            </a:pPr>
            <a:r>
              <a:rPr sz="1300" b="1">
                <a:solidFill>
                  <a:srgbClr val="0B0B0B"/>
                </a:solidFill>
                <a:latin typeface="Arial"/>
              </a:rPr>
              <a:t>Yeniden değerlendirme tetikleyicileri</a:t>
            </a:r>
          </a:p>
          <a:p>
            <a:pPr algn="l">
              <a:spcAft>
                <a:spcPts val="585"/>
              </a:spcAft>
            </a:pPr>
            <a:r>
              <a:rPr sz="1300" b="0">
                <a:solidFill>
                  <a:srgbClr val="0B0B0B"/>
                </a:solidFill>
                <a:latin typeface="Arial"/>
              </a:rPr>
              <a:t>1. YEKDEM koridoru endeksli teyit edilir (E[NPV] +0,4 M$)</a:t>
            </a:r>
          </a:p>
          <a:p>
            <a:pPr algn="l">
              <a:spcAft>
                <a:spcPts val="585"/>
              </a:spcAft>
            </a:pPr>
            <a:r>
              <a:rPr sz="1300" b="0">
                <a:solidFill>
                  <a:srgbClr val="0B0B0B"/>
                </a:solidFill>
                <a:latin typeface="Arial"/>
              </a:rPr>
              <a:t>2. Uzun vadeli fiyat beklentisi ≳ 60 $/MWh</a:t>
            </a:r>
          </a:p>
          <a:p>
            <a:pPr algn="l">
              <a:spcAft>
                <a:spcPts val="585"/>
              </a:spcAft>
            </a:pPr>
            <a:r>
              <a:rPr sz="1300" b="0">
                <a:solidFill>
                  <a:srgbClr val="0B0B0B"/>
                </a:solidFill>
                <a:latin typeface="Arial"/>
              </a:rPr>
              <a:t>3. Türbin + EPC maliyeti ≳ %2 düşer</a:t>
            </a:r>
          </a:p>
          <a:p>
            <a:pPr algn="l">
              <a:spcAft>
                <a:spcPts val="585"/>
              </a:spcAft>
            </a:pPr>
            <a:r>
              <a:rPr sz="1300" b="0">
                <a:solidFill>
                  <a:srgbClr val="0B0B0B"/>
                </a:solidFill>
                <a:latin typeface="Arial"/>
              </a:rPr>
              <a:t>4. 2027'de depolama &lt; ~1 GW, SFK fiyatı korunur</a:t>
            </a:r>
          </a:p>
          <a:p>
            <a:pPr algn="l">
              <a:spcAft>
                <a:spcPts val="585"/>
              </a:spcAft>
            </a:pPr>
            <a:r>
              <a:rPr sz="1300" b="0">
                <a:solidFill>
                  <a:srgbClr val="0B0B0B"/>
                </a:solidFill>
                <a:latin typeface="Arial"/>
              </a:rPr>
              <a:t>5. RES'lere sistem kesintisi 2027'de &lt; %5</a:t>
            </a:r>
          </a:p>
          <a:p>
            <a:pPr algn="l">
              <a:spcAft>
                <a:spcPts val="585"/>
              </a:spcAft>
            </a:pPr>
            <a:r>
              <a:rPr sz="1300" b="1">
                <a:solidFill>
                  <a:srgbClr val="0B0B0B"/>
                </a:solidFill>
                <a:latin typeface="Arial"/>
              </a:rPr>
              <a:t>Pencere: </a:t>
            </a:r>
            <a:r>
              <a:rPr sz="1300" b="0">
                <a:solidFill>
                  <a:srgbClr val="0B0B0B"/>
                </a:solidFill>
                <a:latin typeface="Arial"/>
              </a:rPr>
              <a:t>tetikleyici 2027 ortasından sonra gelirse YEKDEM'e erişim riski artar.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82296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48640"/>
            <a:ext cx="11185855" cy="914400"/>
          </a:xfrm>
          <a:prstGeom prst="rect">
            <a:avLst/>
          </a:prstGeom>
          <a:noFill/>
        </p:spPr>
        <p:txBody>
          <a:bodyPr wrap="square" anchor="t" lIns="0" rIns="0" tIns="0" bIns="0">
            <a:spAutoFit/>
          </a:bodyPr>
          <a:lstStyle/>
          <a:p>
            <a:pPr algn="l">
              <a:spcAft>
                <a:spcPts val="1080"/>
              </a:spcAft>
            </a:pPr>
            <a:r>
              <a:rPr sz="2400" b="1">
                <a:solidFill>
                  <a:srgbClr val="0B0B0B"/>
                </a:solidFill>
                <a:latin typeface="Arial"/>
              </a:rPr>
              <a:t>Ek: sonuçlar kaynaklı varsayımlara ve Excel ile birebir mutabık bir finansal modele dayanıyor</a:t>
            </a:r>
          </a:p>
        </p:txBody>
      </p:sp>
      <p:sp>
        <p:nvSpPr>
          <p:cNvPr id="4" name="TextBox 3"/>
          <p:cNvSpPr txBox="1"/>
          <p:nvPr/>
        </p:nvSpPr>
        <p:spPr>
          <a:xfrm>
            <a:off x="502920" y="6473952"/>
            <a:ext cx="10271455" cy="274320"/>
          </a:xfrm>
          <a:prstGeom prst="rect">
            <a:avLst/>
          </a:prstGeom>
          <a:noFill/>
        </p:spPr>
        <p:txBody>
          <a:bodyPr wrap="square" anchor="t" lIns="0" rIns="0" tIns="0" bIns="0">
            <a:spAutoFit/>
          </a:bodyPr>
          <a:lstStyle/>
          <a:p>
            <a:pPr algn="l">
              <a:spcAft>
                <a:spcPts val="405"/>
              </a:spcAft>
            </a:pPr>
            <a:r>
              <a:rPr sz="900" b="0">
                <a:solidFill>
                  <a:srgbClr val="8A8984"/>
                </a:solidFill>
                <a:latin typeface="Arial"/>
              </a:rPr>
              <a:t>Tüm değerler config.yaml'da kaynak ve notlarıyla; formülasyonlar docs/00–07; Excel: outputs/08/Ezine_Hibrit_Finansal_Model.xlsx.</a:t>
            </a:r>
          </a:p>
        </p:txBody>
      </p:sp>
      <p:sp>
        <p:nvSpPr>
          <p:cNvPr id="5" name="TextBox 4"/>
          <p:cNvSpPr txBox="1"/>
          <p:nvPr/>
        </p:nvSpPr>
        <p:spPr>
          <a:xfrm>
            <a:off x="10957255" y="6473952"/>
            <a:ext cx="731520" cy="274320"/>
          </a:xfrm>
          <a:prstGeom prst="rect">
            <a:avLst/>
          </a:prstGeom>
          <a:noFill/>
        </p:spPr>
        <p:txBody>
          <a:bodyPr wrap="square" anchor="t" lIns="0" rIns="0" tIns="0" bIns="0">
            <a:spAutoFit/>
          </a:bodyPr>
          <a:lstStyle/>
          <a:p>
            <a:pPr algn="r">
              <a:spcAft>
                <a:spcPts val="405"/>
              </a:spcAft>
            </a:pPr>
            <a:r>
              <a:rPr sz="900" b="0">
                <a:solidFill>
                  <a:srgbClr val="8A8984"/>
                </a:solidFill>
                <a:latin typeface="Arial"/>
              </a:rPr>
              <a:t>13</a:t>
            </a:r>
          </a:p>
        </p:txBody>
      </p:sp>
      <p:graphicFrame>
        <p:nvGraphicFramePr>
          <p:cNvPr id="6" name="Table 5"/>
          <p:cNvGraphicFramePr>
            <a:graphicFrameLocks noGrp="1"/>
          </p:cNvGraphicFramePr>
          <p:nvPr/>
        </p:nvGraphicFramePr>
        <p:xfrm>
          <a:off x="502920" y="1600200"/>
          <a:ext cx="11185855" cy="3840480"/>
        </p:xfrm>
        <a:graphic>
          <a:graphicData uri="http://schemas.openxmlformats.org/drawingml/2006/table">
            <a:tbl>
              <a:tblPr firstRow="1" bandRow="1">
                <a:tableStyleId>{5C22544A-7EE6-4342-B048-85BDC9FD1C3A}</a:tableStyleId>
              </a:tblPr>
              <a:tblGrid>
                <a:gridCol w="2377440"/>
                <a:gridCol w="8808415"/>
              </a:tblGrid>
              <a:tr h="480060">
                <a:tc>
                  <a:txBody>
                    <a:bodyPr/>
                    <a:lstStyle/>
                    <a:p>
                      <a:r>
                        <a:rPr sz="1150" b="1">
                          <a:solidFill>
                            <a:srgbClr val="0B0B0B"/>
                          </a:solidFill>
                          <a:latin typeface="Arial"/>
                        </a:rPr>
                        <a:t>Para birimi, iskonto</a:t>
                      </a:r>
                    </a:p>
                  </a:txBody>
                  <a:tcPr>
                    <a:solidFill>
                      <a:srgbClr val="F5F4F0"/>
                    </a:solidFill>
                  </a:tcPr>
                </a:tc>
                <a:tc>
                  <a:txBody>
                    <a:bodyPr/>
                    <a:lstStyle/>
                    <a:p>
                      <a:r>
                        <a:rPr sz="1150" b="0">
                          <a:solidFill>
                            <a:srgbClr val="0B0B0B"/>
                          </a:solidFill>
                          <a:latin typeface="Arial"/>
                        </a:rPr>
                        <a:t>Reel 2026 USD; %7 reel WACC (Damodaran ülke riski primiyle aşağıdan yukarı)</a:t>
                      </a:r>
                    </a:p>
                  </a:txBody>
                  <a:tcPr>
                    <a:solidFill>
                      <a:srgbClr val="F5F4F0"/>
                    </a:solidFill>
                  </a:tcPr>
                </a:tc>
              </a:tr>
              <a:tr h="480060">
                <a:tc>
                  <a:txBody>
                    <a:bodyPr/>
                    <a:lstStyle/>
                    <a:p>
                      <a:r>
                        <a:rPr sz="1150" b="1">
                          <a:solidFill>
                            <a:srgbClr val="0B0B0B"/>
                          </a:solidFill>
                          <a:latin typeface="Arial"/>
                        </a:rPr>
                        <a:t>CAPEX</a:t>
                      </a:r>
                    </a:p>
                  </a:txBody>
                  <a:tcPr>
                    <a:solidFill>
                      <a:srgbClr val="FFFFFF"/>
                    </a:solidFill>
                  </a:tcPr>
                </a:tc>
                <a:tc>
                  <a:txBody>
                    <a:bodyPr/>
                    <a:lstStyle/>
                    <a:p>
                      <a:r>
                        <a:rPr sz="1150" b="0">
                          <a:solidFill>
                            <a:srgbClr val="0B0B0B"/>
                          </a:solidFill>
                          <a:latin typeface="Arial"/>
                        </a:rPr>
                        <a:t>RES 1,15 M$/MW; batarya 110 bin $/MWh + 90 bin $/MW; şebeke bağlantısı ayrı (toplam 82,9 M$)</a:t>
                      </a:r>
                    </a:p>
                  </a:txBody>
                  <a:tcPr>
                    <a:solidFill>
                      <a:srgbClr val="FFFFFF"/>
                    </a:solidFill>
                  </a:tcPr>
                </a:tc>
              </a:tr>
              <a:tr h="480060">
                <a:tc>
                  <a:txBody>
                    <a:bodyPr/>
                    <a:lstStyle/>
                    <a:p>
                      <a:r>
                        <a:rPr sz="1150" b="1">
                          <a:solidFill>
                            <a:srgbClr val="0B0B0B"/>
                          </a:solidFill>
                          <a:latin typeface="Arial"/>
                        </a:rPr>
                        <a:t>Fiyat</a:t>
                      </a:r>
                    </a:p>
                  </a:txBody>
                  <a:tcPr>
                    <a:solidFill>
                      <a:srgbClr val="F5F4F0"/>
                    </a:solidFill>
                  </a:tcPr>
                </a:tc>
                <a:tc>
                  <a:txBody>
                    <a:bodyPr/>
                    <a:lstStyle/>
                    <a:p>
                      <a:r>
                        <a:rPr sz="1150" b="0">
                          <a:solidFill>
                            <a:srgbClr val="0B0B0B"/>
                          </a:solidFill>
                          <a:latin typeface="Arial"/>
                        </a:rPr>
                        <a:t>Beklenen 58 $/MWh reel (log-AR(1), ortalaması 58'e ayarlı; kriz olayları ayrı); 2 şekil yılı × 10 hava yılı</a:t>
                      </a:r>
                    </a:p>
                  </a:txBody>
                  <a:tcPr>
                    <a:solidFill>
                      <a:srgbClr val="F5F4F0"/>
                    </a:solidFill>
                  </a:tcPr>
                </a:tc>
              </a:tr>
              <a:tr h="480060">
                <a:tc>
                  <a:txBody>
                    <a:bodyPr/>
                    <a:lstStyle/>
                    <a:p>
                      <a:r>
                        <a:rPr sz="1150" b="1">
                          <a:solidFill>
                            <a:srgbClr val="0B0B0B"/>
                          </a:solidFill>
                          <a:latin typeface="Arial"/>
                        </a:rPr>
                        <a:t>Borç</a:t>
                      </a:r>
                    </a:p>
                  </a:txBody>
                  <a:tcPr>
                    <a:solidFill>
                      <a:srgbClr val="FFFFFF"/>
                    </a:solidFill>
                  </a:tcPr>
                </a:tc>
                <a:tc>
                  <a:txBody>
                    <a:bodyPr/>
                    <a:lstStyle/>
                    <a:p>
                      <a:r>
                        <a:rPr sz="1150" b="0">
                          <a:solidFill>
                            <a:srgbClr val="0B0B0B"/>
                          </a:solidFill>
                          <a:latin typeface="Arial"/>
                        </a:rPr>
                        <a:t>Nominal %8, DSCR'a göre boyutlama, azami %75 borç oranı</a:t>
                      </a:r>
                    </a:p>
                  </a:txBody>
                  <a:tcPr>
                    <a:solidFill>
                      <a:srgbClr val="FFFFFF"/>
                    </a:solidFill>
                  </a:tcPr>
                </a:tc>
              </a:tr>
              <a:tr h="480060">
                <a:tc>
                  <a:txBody>
                    <a:bodyPr/>
                    <a:lstStyle/>
                    <a:p>
                      <a:r>
                        <a:rPr sz="1150" b="1">
                          <a:solidFill>
                            <a:srgbClr val="0B0B0B"/>
                          </a:solidFill>
                          <a:latin typeface="Arial"/>
                        </a:rPr>
                        <a:t>Vergi</a:t>
                      </a:r>
                    </a:p>
                  </a:txBody>
                  <a:tcPr>
                    <a:solidFill>
                      <a:srgbClr val="F5F4F0"/>
                    </a:solidFill>
                  </a:tcPr>
                </a:tc>
                <a:tc>
                  <a:txBody>
                    <a:bodyPr/>
                    <a:lstStyle/>
                    <a:p>
                      <a:r>
                        <a:rPr sz="1150" b="0">
                          <a:solidFill>
                            <a:srgbClr val="0B0B0B"/>
                          </a:solidFill>
                          <a:latin typeface="Arial"/>
                        </a:rPr>
                        <a:t>%25 kurumlar vergisi, 10 yıl doğrusal amortisman, 5 yıl zarar mahsubu; teşvik belgesiyle KDV istisnası</a:t>
                      </a:r>
                    </a:p>
                  </a:txBody>
                  <a:tcPr>
                    <a:solidFill>
                      <a:srgbClr val="F5F4F0"/>
                    </a:solidFill>
                  </a:tcPr>
                </a:tc>
              </a:tr>
              <a:tr h="480060">
                <a:tc>
                  <a:txBody>
                    <a:bodyPr/>
                    <a:lstStyle/>
                    <a:p>
                      <a:r>
                        <a:rPr sz="1150" b="1">
                          <a:solidFill>
                            <a:srgbClr val="0B0B0B"/>
                          </a:solidFill>
                          <a:latin typeface="Arial"/>
                        </a:rPr>
                        <a:t>Optimizasyon</a:t>
                      </a:r>
                    </a:p>
                  </a:txBody>
                  <a:tcPr>
                    <a:solidFill>
                      <a:srgbClr val="FFFFFF"/>
                    </a:solidFill>
                  </a:tcPr>
                </a:tc>
                <a:tc>
                  <a:txBody>
                    <a:bodyPr/>
                    <a:lstStyle/>
                    <a:p>
                      <a:r>
                        <a:rPr sz="1150" b="0">
                          <a:solidFill>
                            <a:srgbClr val="0B0B0B"/>
                          </a:solidFill>
                          <a:latin typeface="Arial"/>
                        </a:rPr>
                        <a:t>Pyomo + HiGHS: tamsayı türbin sayısı, ikili yatırım kararı, saatlik dispatch; 24 temsilî gün / tam yıl</a:t>
                      </a:r>
                    </a:p>
                  </a:txBody>
                  <a:tcPr>
                    <a:solidFill>
                      <a:srgbClr val="FFFFFF"/>
                    </a:solidFill>
                  </a:tcPr>
                </a:tc>
              </a:tr>
              <a:tr h="480060">
                <a:tc>
                  <a:txBody>
                    <a:bodyPr/>
                    <a:lstStyle/>
                    <a:p>
                      <a:r>
                        <a:rPr sz="1150" b="1">
                          <a:solidFill>
                            <a:srgbClr val="0B0B0B"/>
                          </a:solidFill>
                          <a:latin typeface="Arial"/>
                        </a:rPr>
                        <a:t>Risk</a:t>
                      </a:r>
                    </a:p>
                  </a:txBody>
                  <a:tcPr>
                    <a:solidFill>
                      <a:srgbClr val="F5F4F0"/>
                    </a:solidFill>
                  </a:tcPr>
                </a:tc>
                <a:tc>
                  <a:txBody>
                    <a:bodyPr/>
                    <a:lstStyle/>
                    <a:p>
                      <a:r>
                        <a:rPr sz="1150" b="0">
                          <a:solidFill>
                            <a:srgbClr val="0B0B0B"/>
                          </a:solidFill>
                          <a:latin typeface="Arial"/>
                        </a:rPr>
                        <a:t>10.000 simülasyon, ortak rastgele sayılar (tohum 42): fiyat, hava, CAPEX, SFK doyumu, kesinti, takvim</a:t>
                      </a:r>
                    </a:p>
                  </a:txBody>
                  <a:tcPr>
                    <a:solidFill>
                      <a:srgbClr val="F5F4F0"/>
                    </a:solidFill>
                  </a:tcPr>
                </a:tc>
              </a:tr>
              <a:tr h="480060">
                <a:tc>
                  <a:txBody>
                    <a:bodyPr/>
                    <a:lstStyle/>
                    <a:p>
                      <a:r>
                        <a:rPr sz="1150" b="1">
                          <a:solidFill>
                            <a:srgbClr val="0B0B0B"/>
                          </a:solidFill>
                          <a:latin typeface="Arial"/>
                        </a:rPr>
                        <a:t>Doğrulama</a:t>
                      </a:r>
                    </a:p>
                  </a:txBody>
                  <a:tcPr>
                    <a:solidFill>
                      <a:srgbClr val="FFFFFF"/>
                    </a:solidFill>
                  </a:tcPr>
                </a:tc>
                <a:tc>
                  <a:txBody>
                    <a:bodyPr/>
                    <a:lstStyle/>
                    <a:p>
                      <a:r>
                        <a:rPr sz="1150" b="0">
                          <a:solidFill>
                            <a:srgbClr val="0B0B0B"/>
                          </a:solidFill>
                          <a:latin typeface="Arial"/>
                        </a:rPr>
                        <a:t>Excel–Python 48/48 mutabık; deterministik–Monte Carlo köprüsü; 18 test + CI (ruff); docs/MODEL_DOGRULAMA.md</a:t>
                      </a:r>
                    </a:p>
                  </a:txBody>
                  <a:tcPr>
                    <a:solidFill>
                      <a:srgbClr val="FFFFFF"/>
                    </a:solidFill>
                  </a:tcPr>
                </a:tc>
              </a:tr>
            </a:tbl>
          </a:graphicData>
        </a:graphic>
      </p:graphicFrame>
      <p:sp>
        <p:nvSpPr>
          <p:cNvPr id="7" name="TextBox 6"/>
          <p:cNvSpPr txBox="1"/>
          <p:nvPr/>
        </p:nvSpPr>
        <p:spPr>
          <a:xfrm>
            <a:off x="502920" y="5669280"/>
            <a:ext cx="11185855" cy="685800"/>
          </a:xfrm>
          <a:prstGeom prst="rect">
            <a:avLst/>
          </a:prstGeom>
          <a:noFill/>
        </p:spPr>
        <p:txBody>
          <a:bodyPr wrap="square" anchor="t" lIns="0" rIns="0" tIns="0" bIns="0">
            <a:spAutoFit/>
          </a:bodyPr>
          <a:lstStyle/>
          <a:p>
            <a:pPr algn="l">
              <a:spcAft>
                <a:spcPts val="382"/>
              </a:spcAft>
            </a:pPr>
            <a:r>
              <a:rPr sz="850" b="0">
                <a:solidFill>
                  <a:srgbClr val="52514E"/>
                </a:solidFill>
                <a:latin typeface="Arial"/>
              </a:rPr>
              <a:t>Veri atıfları — ERA5: Contains modified Copernicus Climate Change Service information 2026. Neither the European Commission nor ECMWF is responsible for any use that may be made of the Copernicus information or data it contains.</a:t>
            </a:r>
          </a:p>
          <a:p>
            <a:pPr algn="l">
              <a:spcAft>
                <a:spcPts val="382"/>
              </a:spcAft>
            </a:pPr>
            <a:r>
              <a:rPr sz="850" b="0">
                <a:solidFill>
                  <a:srgbClr val="52514E"/>
                </a:solidFill>
                <a:latin typeface="Arial"/>
              </a:rPr>
              <a:t>PVGIS: PVGIS © European Communities, 2001-2026 (PVGIS-SARAH3). EPİAŞ: Kaynak: EPİAŞ Şeffaflık Platformu (seffaflik.epias.com.tr). Kod MIT; veriler kaynaklarının koşullarına tabi (DATA_SOURCES.md).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